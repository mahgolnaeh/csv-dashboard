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26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user first. The two questions are the contract — everything in the pipeline serves one 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Walk left to right. Highlight the two magenta LLM boxes — those are the only LLM calls. Everything else is deterministic SQL. Then point to the two bottom boxes: fallback guarantees the dashboard renders, and the LLM never sees raw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65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Dashboard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63148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 to Insight in </a:t>
            </a:r>
            <a:r>
              <a:rPr lang="en-US" sz="52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r>
              <a:rPr lang="fa-IR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05840" y="29032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for enterprise data, where AI accelerates and deterministic systems deliver.</a:t>
            </a:r>
            <a:endParaRPr lang="en-US" sz="18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FFA22C-61B9-A64A-75B7-6E5A369989AC}"/>
              </a:ext>
            </a:extLst>
          </p:cNvPr>
          <p:cNvGrpSpPr/>
          <p:nvPr/>
        </p:nvGrpSpPr>
        <p:grpSpPr>
          <a:xfrm>
            <a:off x="1005840" y="4219475"/>
            <a:ext cx="3291840" cy="1280160"/>
            <a:chOff x="822960" y="4572000"/>
            <a:chExt cx="3291840" cy="1280160"/>
          </a:xfrm>
        </p:grpSpPr>
        <p:sp>
          <p:nvSpPr>
            <p:cNvPr id="6" name="Shape 4"/>
            <p:cNvSpPr/>
            <p:nvPr/>
          </p:nvSpPr>
          <p:spPr>
            <a:xfrm>
              <a:off x="822960" y="4572000"/>
              <a:ext cx="3291840" cy="1280160"/>
            </a:xfrm>
            <a:prstGeom prst="rect">
              <a:avLst/>
            </a:prstGeom>
            <a:solidFill>
              <a:srgbClr val="1A2B5C"/>
            </a:solidFill>
            <a:ln w="12700">
              <a:solidFill>
                <a:srgbClr val="2C4A8A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822960" y="4572000"/>
              <a:ext cx="3291840" cy="45720"/>
            </a:xfrm>
            <a:prstGeom prst="rect">
              <a:avLst/>
            </a:prstGeom>
            <a:solidFill>
              <a:srgbClr val="E20074"/>
            </a:solidFill>
            <a:ln w="12700">
              <a:solidFill>
                <a:srgbClr val="E20074"/>
              </a:solidFill>
              <a:prstDash val="solid"/>
            </a:ln>
          </p:spPr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4846320"/>
              <a:ext cx="502920" cy="50292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737360" y="48463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Any CSV</a:t>
              </a:r>
              <a:endParaRPr lang="en-US" sz="20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737360" y="52578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Schema-agnostic ingestion</a:t>
              </a:r>
              <a:endParaRPr lang="en-US" sz="13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65A95F-54E8-E335-6308-40A9D13E5FB0}"/>
              </a:ext>
            </a:extLst>
          </p:cNvPr>
          <p:cNvGrpSpPr/>
          <p:nvPr/>
        </p:nvGrpSpPr>
        <p:grpSpPr>
          <a:xfrm>
            <a:off x="4526280" y="4219475"/>
            <a:ext cx="3291840" cy="1280160"/>
            <a:chOff x="4434840" y="4572000"/>
            <a:chExt cx="3291840" cy="1280160"/>
          </a:xfrm>
        </p:grpSpPr>
        <p:sp>
          <p:nvSpPr>
            <p:cNvPr id="11" name="Shape 8"/>
            <p:cNvSpPr/>
            <p:nvPr/>
          </p:nvSpPr>
          <p:spPr>
            <a:xfrm>
              <a:off x="4434840" y="4572000"/>
              <a:ext cx="3291840" cy="1280160"/>
            </a:xfrm>
            <a:prstGeom prst="rect">
              <a:avLst/>
            </a:prstGeom>
            <a:solidFill>
              <a:srgbClr val="1A2B5C"/>
            </a:solidFill>
            <a:ln w="12700">
              <a:solidFill>
                <a:srgbClr val="2C4A8A"/>
              </a:solidFill>
              <a:prstDash val="solid"/>
            </a:ln>
          </p:spPr>
        </p:sp>
        <p:sp>
          <p:nvSpPr>
            <p:cNvPr id="12" name="Shape 9"/>
            <p:cNvSpPr/>
            <p:nvPr/>
          </p:nvSpPr>
          <p:spPr>
            <a:xfrm>
              <a:off x="4434840" y="4572000"/>
              <a:ext cx="3291840" cy="45720"/>
            </a:xfrm>
            <a:prstGeom prst="rect">
              <a:avLst/>
            </a:prstGeom>
            <a:solidFill>
              <a:srgbClr val="E20074"/>
            </a:solidFill>
            <a:ln w="12700">
              <a:solidFill>
                <a:srgbClr val="E20074"/>
              </a:solidFill>
              <a:prstDash val="solid"/>
            </a:ln>
          </p:spPr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9160" y="4846320"/>
              <a:ext cx="502920" cy="502920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5349240" y="48463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Always-on</a:t>
              </a:r>
              <a:endParaRPr lang="en-US" sz="20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5349240" y="52578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Dual-engine reliability</a:t>
              </a:r>
              <a:endParaRPr lang="en-US" sz="13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EAEBF5-92BA-7124-92A6-0312A8074867}"/>
              </a:ext>
            </a:extLst>
          </p:cNvPr>
          <p:cNvGrpSpPr/>
          <p:nvPr/>
        </p:nvGrpSpPr>
        <p:grpSpPr>
          <a:xfrm>
            <a:off x="8046720" y="4249554"/>
            <a:ext cx="3291840" cy="1280160"/>
            <a:chOff x="8046720" y="4572000"/>
            <a:chExt cx="3291840" cy="1280160"/>
          </a:xfrm>
        </p:grpSpPr>
        <p:sp>
          <p:nvSpPr>
            <p:cNvPr id="16" name="Shape 12"/>
            <p:cNvSpPr/>
            <p:nvPr/>
          </p:nvSpPr>
          <p:spPr>
            <a:xfrm>
              <a:off x="8046720" y="4572000"/>
              <a:ext cx="3291840" cy="1280160"/>
            </a:xfrm>
            <a:prstGeom prst="rect">
              <a:avLst/>
            </a:prstGeom>
            <a:solidFill>
              <a:srgbClr val="1A2B5C"/>
            </a:solidFill>
            <a:ln w="12700">
              <a:solidFill>
                <a:srgbClr val="2C4A8A"/>
              </a:solidFill>
              <a:prstDash val="solid"/>
            </a:ln>
          </p:spPr>
        </p:sp>
        <p:sp>
          <p:nvSpPr>
            <p:cNvPr id="17" name="Shape 13"/>
            <p:cNvSpPr/>
            <p:nvPr/>
          </p:nvSpPr>
          <p:spPr>
            <a:xfrm>
              <a:off x="8046720" y="4572000"/>
              <a:ext cx="3291840" cy="45720"/>
            </a:xfrm>
            <a:prstGeom prst="rect">
              <a:avLst/>
            </a:prstGeom>
            <a:solidFill>
              <a:srgbClr val="E20074"/>
            </a:solidFill>
            <a:ln w="12700">
              <a:solidFill>
                <a:srgbClr val="E20074"/>
              </a:solidFill>
              <a:prstDash val="solid"/>
            </a:ln>
          </p:spPr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21040" y="4846320"/>
              <a:ext cx="502920" cy="50292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8961120" y="48463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Executive-ready</a:t>
              </a:r>
              <a:endParaRPr lang="en-US" sz="20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8961120" y="52578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Insights, not just charts</a:t>
              </a:r>
              <a:endParaRPr lang="en-US" sz="1300" dirty="0"/>
            </a:p>
          </p:txBody>
        </p:sp>
      </p:grpSp>
      <p:sp>
        <p:nvSpPr>
          <p:cNvPr id="4" name="Shape 0">
            <a:extLst>
              <a:ext uri="{FF2B5EF4-FFF2-40B4-BE49-F238E27FC236}">
                <a16:creationId xmlns:a16="http://schemas.microsoft.com/office/drawing/2014/main" id="{377CB15D-3667-CA19-F6E9-88196FB1C70F}"/>
              </a:ext>
            </a:extLst>
          </p:cNvPr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200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54864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consultant uploads a CSV.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what?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unknown.   Domain unknown.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200 to 50,000+ rows.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write code.  Can't read stats.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3200400"/>
            <a:ext cx="27432" cy="2926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550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THEY 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my data show?”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they can read at a glance.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03720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what you did to it?”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explained in plain English.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questions shaped every design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54864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 ·  2 LLM agents  ·  1 deterministic fallback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0294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20294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20294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014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014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upload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39316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923898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923898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923898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9618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9618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 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2920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327502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327502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27502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73222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73222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cleaned_data 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6524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31106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731106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1106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776826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76826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types + stats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0128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134710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134710" y="2423160"/>
            <a:ext cx="1325880" cy="128016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134710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80430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Planner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8043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JSON specs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23330" y="4069080"/>
            <a:ext cx="548640" cy="201168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523330" y="4069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53732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538314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7538314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538314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584034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SQL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84034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+ DuckDB run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57336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941918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941918" y="2423160"/>
            <a:ext cx="1325880" cy="128016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941918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987638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Writer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987638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plain English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30538" y="4069080"/>
            <a:ext cx="548640" cy="201168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9330538" y="4069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260940" y="322326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10345522" y="24231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10345522" y="2423160"/>
            <a:ext cx="1325880" cy="548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0345522" y="2606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10391242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UI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391242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render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4754880"/>
            <a:ext cx="5532120" cy="1554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548640" y="4754880"/>
            <a:ext cx="109728" cy="1554480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86868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GUARANTEE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never breaks.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868680" y="5577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LLM agents fail, a deterministic chart engine (R01–R12) renders 12 rule-based chart types in under one second.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17920" y="4754880"/>
            <a:ext cx="5440680" cy="1554480"/>
          </a:xfrm>
          <a:prstGeom prst="rect">
            <a:avLst/>
          </a:prstGeom>
          <a:solidFill>
            <a:srgbClr val="FFF5F9"/>
          </a:solidFill>
          <a:ln w="12700">
            <a:solidFill>
              <a:srgbClr val="E200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6217920" y="4754880"/>
            <a:ext cx="109728" cy="1554480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53796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DUCKDB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3796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raw rows.</a:t>
            </a:r>
            <a:endParaRPr lang="en-US" sz="1900" dirty="0"/>
          </a:p>
        </p:txBody>
      </p:sp>
      <p:sp>
        <p:nvSpPr>
          <p:cNvPr id="67" name="Text 65"/>
          <p:cNvSpPr/>
          <p:nvPr/>
        </p:nvSpPr>
        <p:spPr>
          <a:xfrm>
            <a:off x="6537960" y="5577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sees only the data profile. Agent 2 sees only aggregated query results. Writes are blocked by SQL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paths. One guarantee.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349240" y="1554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A1532"/>
          </a:solidFill>
          <a:ln w="12700">
            <a:solidFill>
              <a:srgbClr val="0A1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CSV Upload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338328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21552A-766D-AAB8-7BB6-2A8D4793BE70}"/>
              </a:ext>
            </a:extLst>
          </p:cNvPr>
          <p:cNvGrpSpPr/>
          <p:nvPr/>
        </p:nvGrpSpPr>
        <p:grpSpPr>
          <a:xfrm>
            <a:off x="3657600" y="2057400"/>
            <a:ext cx="4846320" cy="1325880"/>
            <a:chOff x="3657600" y="2057400"/>
            <a:chExt cx="4846320" cy="1325880"/>
          </a:xfrm>
        </p:grpSpPr>
        <p:sp>
          <p:nvSpPr>
            <p:cNvPr id="6" name="Shape 4"/>
            <p:cNvSpPr/>
            <p:nvPr/>
          </p:nvSpPr>
          <p:spPr>
            <a:xfrm>
              <a:off x="6080760" y="2057400"/>
              <a:ext cx="0" cy="274320"/>
            </a:xfrm>
            <a:prstGeom prst="line">
              <a:avLst/>
            </a:prstGeom>
            <a:noFill/>
            <a:ln w="25400">
              <a:solidFill>
                <a:srgbClr val="0A1532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4251960" y="2377440"/>
              <a:ext cx="3657600" cy="777240"/>
            </a:xfrm>
            <a:prstGeom prst="rect">
              <a:avLst/>
            </a:prstGeom>
            <a:solidFill>
              <a:srgbClr val="1A2B5C"/>
            </a:solidFill>
            <a:ln w="12700">
              <a:solidFill>
                <a:srgbClr val="1A2B5C"/>
              </a:solidFill>
              <a:prstDash val="solid"/>
            </a:ln>
          </p:spPr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0560" y="2560320"/>
              <a:ext cx="411480" cy="41148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5029200" y="246888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DuckDB Profiling + Data Quality</a:t>
              </a:r>
              <a:endParaRPr lang="en-US" sz="14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029200" y="278892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Deterministic core · No AI involved</a:t>
              </a:r>
              <a:endParaRPr lang="en-US" sz="10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080760" y="3154680"/>
              <a:ext cx="0" cy="228600"/>
            </a:xfrm>
            <a:prstGeom prst="line">
              <a:avLst/>
            </a:prstGeom>
            <a:noFill/>
            <a:ln w="25400">
              <a:solidFill>
                <a:srgbClr val="0A1532"/>
              </a:solidFill>
              <a:prstDash val="solid"/>
            </a:ln>
          </p:spPr>
        </p:sp>
        <p:sp>
          <p:nvSpPr>
            <p:cNvPr id="12" name="Shape 9"/>
            <p:cNvSpPr/>
            <p:nvPr/>
          </p:nvSpPr>
          <p:spPr>
            <a:xfrm>
              <a:off x="3657600" y="3383280"/>
              <a:ext cx="2423160" cy="0"/>
            </a:xfrm>
            <a:prstGeom prst="line">
              <a:avLst/>
            </a:prstGeom>
            <a:noFill/>
            <a:ln w="25400">
              <a:solidFill>
                <a:srgbClr val="0A1532"/>
              </a:solidFill>
              <a:prstDash val="solid"/>
            </a:ln>
          </p:spPr>
        </p:sp>
        <p:sp>
          <p:nvSpPr>
            <p:cNvPr id="14" name="Shape 11"/>
            <p:cNvSpPr/>
            <p:nvPr/>
          </p:nvSpPr>
          <p:spPr>
            <a:xfrm>
              <a:off x="6080760" y="3383280"/>
              <a:ext cx="2423160" cy="0"/>
            </a:xfrm>
            <a:prstGeom prst="line">
              <a:avLst/>
            </a:prstGeom>
            <a:noFill/>
            <a:ln w="25400">
              <a:solidFill>
                <a:srgbClr val="0A1532"/>
              </a:solidFill>
              <a:prstDash val="solid"/>
            </a:ln>
          </p:spPr>
        </p:sp>
      </p:grpSp>
      <p:sp>
        <p:nvSpPr>
          <p:cNvPr id="15" name="Shape 12"/>
          <p:cNvSpPr/>
          <p:nvPr/>
        </p:nvSpPr>
        <p:spPr>
          <a:xfrm>
            <a:off x="8503920" y="3383280"/>
            <a:ext cx="0" cy="2743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71600" y="3703320"/>
            <a:ext cx="45720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71600" y="3703320"/>
            <a:ext cx="4572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0448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402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PATH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24028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(creative)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64592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specialized agents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smart, context-aware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plain-English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217920" y="3703320"/>
            <a:ext cx="45720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3703320"/>
            <a:ext cx="4572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0448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866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ENGINE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0866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(always-on)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92240" y="4572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deterministic rules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reliable charts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(summary, distributions,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correlations)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657600" y="5897880"/>
            <a:ext cx="0" cy="228600"/>
          </a:xfrm>
          <a:prstGeom prst="line">
            <a:avLst/>
          </a:prstGeom>
          <a:noFill/>
          <a:ln w="25400">
            <a:solidFill>
              <a:srgbClr val="0A153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503920" y="5897880"/>
            <a:ext cx="0" cy="228600"/>
          </a:xfrm>
          <a:prstGeom prst="line">
            <a:avLst/>
          </a:prstGeom>
          <a:noFill/>
          <a:ln w="25400">
            <a:solidFill>
              <a:srgbClr val="0A153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657600" y="6126480"/>
            <a:ext cx="4846320" cy="0"/>
          </a:xfrm>
          <a:prstGeom prst="line">
            <a:avLst/>
          </a:prstGeom>
          <a:noFill/>
          <a:ln w="25400">
            <a:solidFill>
              <a:srgbClr val="0A153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080760" y="6126480"/>
            <a:ext cx="0" cy="182880"/>
          </a:xfrm>
          <a:prstGeom prst="line">
            <a:avLst/>
          </a:prstGeom>
          <a:noFill/>
          <a:ln w="25400">
            <a:solidFill>
              <a:srgbClr val="0A153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166360" y="6309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166360" y="6309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Code disposes.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generates ideas. The deterministic layer validates, executes, and renders.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0A1532"/>
          </a:solidFill>
          <a:ln w="12700">
            <a:solidFill>
              <a:srgbClr val="0A153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64792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91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ideas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 · Plain-English narratives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737360"/>
            <a:ext cx="822960" cy="914400"/>
          </a:xfrm>
          <a:prstGeom prst="rect">
            <a:avLst/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737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15544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745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7266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disposes (executes)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0372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· Pydantic · Fallback engine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4340" y="3154680"/>
            <a:ext cx="3611880" cy="2697480"/>
          </a:xfrm>
          <a:prstGeom prst="rect">
            <a:avLst/>
          </a:prstGeom>
          <a:solidFill>
            <a:srgbClr val="F8F9F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4340" y="3154680"/>
            <a:ext cx="3611880" cy="91440"/>
          </a:xfrm>
          <a:prstGeom prst="rect">
            <a:avLst/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4747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08660" y="4709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DuckDB to query data and validate structure.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1540" y="5440680"/>
            <a:ext cx="2697480" cy="0"/>
          </a:xfrm>
          <a:prstGeom prst="line">
            <a:avLst/>
          </a:prstGeom>
          <a:noFill/>
          <a:ln w="12700">
            <a:solidFill>
              <a:srgbClr val="E8ECF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8660" y="54864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lives in the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08660" y="5641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not LLM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274820" y="3154680"/>
            <a:ext cx="3611880" cy="2697480"/>
          </a:xfrm>
          <a:prstGeom prst="rect">
            <a:avLst/>
          </a:prstGeom>
          <a:solidFill>
            <a:srgbClr val="F8F9F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274820" y="3154680"/>
            <a:ext cx="3611880" cy="91440"/>
          </a:xfrm>
          <a:prstGeom prst="rect">
            <a:avLst/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47472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457700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4549140" y="4709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output → error fed back → revised draft. Bounded to prevent loops.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732020" y="5440680"/>
            <a:ext cx="2697480" cy="0"/>
          </a:xfrm>
          <a:prstGeom prst="line">
            <a:avLst/>
          </a:prstGeom>
          <a:noFill/>
          <a:ln w="12700">
            <a:solidFill>
              <a:srgbClr val="E8ECF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49140" y="54864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lives in the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549140" y="5641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Validator, not LLM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115300" y="3154680"/>
            <a:ext cx="3611880" cy="2697480"/>
          </a:xfrm>
          <a:prstGeom prst="rect">
            <a:avLst/>
          </a:prstGeom>
          <a:solidFill>
            <a:srgbClr val="F8F9FB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115300" y="3154680"/>
            <a:ext cx="3611880" cy="91440"/>
          </a:xfrm>
          <a:prstGeom prst="rect">
            <a:avLst/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474720"/>
            <a:ext cx="640080" cy="6400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98180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8389620" y="4709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responses enforced via Pydantic schema. No free-form generation.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572500" y="5440680"/>
            <a:ext cx="2697480" cy="0"/>
          </a:xfrm>
          <a:prstGeom prst="line">
            <a:avLst/>
          </a:prstGeom>
          <a:noFill/>
          <a:ln w="12700">
            <a:solidFill>
              <a:srgbClr val="E8ECF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389620" y="54864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lives in the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389620" y="5641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not LLM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solidFill>
            <a:srgbClr val="0A1532"/>
          </a:solidFill>
          <a:ln w="12700">
            <a:solidFill>
              <a:srgbClr val="0A15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depends on the LLM being correct.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choice, deliberate.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what we rejected and why.</a:t>
            </a:r>
            <a:endParaRPr lang="en-US" sz="15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8E0265-C2A7-45B5-8641-568C43C264DC}"/>
              </a:ext>
            </a:extLst>
          </p:cNvPr>
          <p:cNvGrpSpPr/>
          <p:nvPr/>
        </p:nvGrpSpPr>
        <p:grpSpPr>
          <a:xfrm>
            <a:off x="548640" y="1636776"/>
            <a:ext cx="11201400" cy="3310128"/>
            <a:chOff x="548640" y="1508760"/>
            <a:chExt cx="11201400" cy="3310128"/>
          </a:xfrm>
        </p:grpSpPr>
        <p:sp>
          <p:nvSpPr>
            <p:cNvPr id="4" name="Shape 2"/>
            <p:cNvSpPr/>
            <p:nvPr/>
          </p:nvSpPr>
          <p:spPr>
            <a:xfrm>
              <a:off x="548640" y="1508760"/>
              <a:ext cx="2286000" cy="457200"/>
            </a:xfrm>
            <a:prstGeom prst="rect">
              <a:avLst/>
            </a:prstGeom>
            <a:solidFill>
              <a:srgbClr val="0A1532"/>
            </a:solidFill>
            <a:ln w="12700">
              <a:solidFill>
                <a:srgbClr val="0A1532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685800" y="1508760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Decision</a:t>
              </a:r>
              <a:endParaRPr lang="en-US" sz="13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880360" y="1508760"/>
              <a:ext cx="2743200" cy="457200"/>
            </a:xfrm>
            <a:prstGeom prst="rect">
              <a:avLst/>
            </a:prstGeom>
            <a:solidFill>
              <a:srgbClr val="0A1532"/>
            </a:solidFill>
            <a:ln w="12700">
              <a:solidFill>
                <a:srgbClr val="0A1532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17520" y="150876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Chosen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669280" y="1508760"/>
              <a:ext cx="2743200" cy="457200"/>
            </a:xfrm>
            <a:prstGeom prst="rect">
              <a:avLst/>
            </a:prstGeom>
            <a:solidFill>
              <a:srgbClr val="0A1532"/>
            </a:solidFill>
            <a:ln w="12700">
              <a:solidFill>
                <a:srgbClr val="0A1532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806440" y="150876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Rejected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458200" y="1508760"/>
              <a:ext cx="3291840" cy="457200"/>
            </a:xfrm>
            <a:prstGeom prst="rect">
              <a:avLst/>
            </a:prstGeom>
            <a:solidFill>
              <a:srgbClr val="0A1532"/>
            </a:solidFill>
            <a:ln w="12700">
              <a:solidFill>
                <a:srgbClr val="0A153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595360" y="1508760"/>
              <a:ext cx="3017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Rationale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1965960"/>
              <a:ext cx="112014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85800" y="1965960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Engine</a:t>
              </a:r>
              <a:endParaRPr lang="en-US" sz="1300" dirty="0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2112264"/>
              <a:ext cx="228600" cy="228600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3264408" y="1965960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DuckDB</a:t>
              </a:r>
              <a:endParaRPr lang="en-US" sz="1200" dirty="0"/>
            </a:p>
          </p:txBody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2112264"/>
              <a:ext cx="228600" cy="228600"/>
            </a:xfrm>
            <a:prstGeom prst="rect">
              <a:avLst/>
            </a:prstGeom>
          </p:spPr>
        </p:pic>
        <p:sp>
          <p:nvSpPr>
            <p:cNvPr id="17" name="Text 13"/>
            <p:cNvSpPr/>
            <p:nvPr/>
          </p:nvSpPr>
          <p:spPr>
            <a:xfrm>
              <a:off x="6053328" y="1965960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Pandas-only</a:t>
              </a:r>
              <a:endParaRPr lang="en-US" sz="12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8595360" y="1965960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Scales to large files; SQL-native</a:t>
              </a:r>
              <a:endParaRPr lang="en-US" sz="12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548640" y="2441448"/>
              <a:ext cx="11201400" cy="475488"/>
            </a:xfrm>
            <a:prstGeom prst="rect">
              <a:avLst/>
            </a:prstGeom>
            <a:solidFill>
              <a:srgbClr val="F8F9FB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685800" y="2441448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Orchestration</a:t>
              </a:r>
              <a:endParaRPr lang="en-US" sz="1300" dirty="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2587752"/>
              <a:ext cx="228600" cy="228600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3264408" y="2441448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(80 LOC)</a:t>
              </a:r>
              <a:endParaRPr lang="en-US" sz="1200" dirty="0"/>
            </a:p>
          </p:txBody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2587752"/>
              <a:ext cx="228600" cy="228600"/>
            </a:xfrm>
            <a:prstGeom prst="rect">
              <a:avLst/>
            </a:prstGeom>
          </p:spPr>
        </p:pic>
        <p:sp>
          <p:nvSpPr>
            <p:cNvPr id="24" name="Text 18"/>
            <p:cNvSpPr/>
            <p:nvPr/>
          </p:nvSpPr>
          <p:spPr>
            <a:xfrm>
              <a:off x="6053328" y="2441448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LangGraph / LangChain</a:t>
              </a:r>
              <a:endParaRPr lang="en-US" sz="120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8595360" y="2441448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Right-sized for a 2-agent flow</a:t>
              </a:r>
              <a:endParaRPr lang="en-US" sz="1200" dirty="0"/>
            </a:p>
          </p:txBody>
        </p:sp>
        <p:sp>
          <p:nvSpPr>
            <p:cNvPr id="26" name="Shape 20"/>
            <p:cNvSpPr/>
            <p:nvPr/>
          </p:nvSpPr>
          <p:spPr>
            <a:xfrm>
              <a:off x="548640" y="2916936"/>
              <a:ext cx="112014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27" name="Text 21"/>
            <p:cNvSpPr/>
            <p:nvPr/>
          </p:nvSpPr>
          <p:spPr>
            <a:xfrm>
              <a:off x="685800" y="2916936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Count</a:t>
              </a:r>
              <a:endParaRPr lang="en-US" sz="1300" dirty="0"/>
            </a:p>
          </p:txBody>
        </p:sp>
        <p:pic>
          <p:nvPicPr>
            <p:cNvPr id="28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3063240"/>
              <a:ext cx="228600" cy="228600"/>
            </a:xfrm>
            <a:prstGeom prst="rect">
              <a:avLst/>
            </a:prstGeom>
          </p:spPr>
        </p:pic>
        <p:sp>
          <p:nvSpPr>
            <p:cNvPr id="29" name="Text 22"/>
            <p:cNvSpPr/>
            <p:nvPr/>
          </p:nvSpPr>
          <p:spPr>
            <a:xfrm>
              <a:off x="3264408" y="2916936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specialized</a:t>
              </a:r>
              <a:endParaRPr lang="en-US" sz="1200" dirty="0"/>
            </a:p>
          </p:txBody>
        </p:sp>
        <p:pic>
          <p:nvPicPr>
            <p:cNvPr id="30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3063240"/>
              <a:ext cx="228600" cy="228600"/>
            </a:xfrm>
            <a:prstGeom prst="rect">
              <a:avLst/>
            </a:prstGeom>
          </p:spPr>
        </p:pic>
        <p:sp>
          <p:nvSpPr>
            <p:cNvPr id="31" name="Text 23"/>
            <p:cNvSpPr/>
            <p:nvPr/>
          </p:nvSpPr>
          <p:spPr>
            <a:xfrm>
              <a:off x="6053328" y="2916936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generic / 5+ multi-agent</a:t>
              </a:r>
              <a:endParaRPr lang="en-US" sz="1200" dirty="0"/>
            </a:p>
          </p:txBody>
        </p:sp>
        <p:sp>
          <p:nvSpPr>
            <p:cNvPr id="32" name="Text 24"/>
            <p:cNvSpPr/>
            <p:nvPr/>
          </p:nvSpPr>
          <p:spPr>
            <a:xfrm>
              <a:off x="8595360" y="2916936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agent, one clear job</a:t>
              </a:r>
              <a:endParaRPr lang="en-US" sz="1200" dirty="0"/>
            </a:p>
          </p:txBody>
        </p:sp>
        <p:sp>
          <p:nvSpPr>
            <p:cNvPr id="33" name="Shape 25"/>
            <p:cNvSpPr/>
            <p:nvPr/>
          </p:nvSpPr>
          <p:spPr>
            <a:xfrm>
              <a:off x="548640" y="3392424"/>
              <a:ext cx="11201400" cy="475488"/>
            </a:xfrm>
            <a:prstGeom prst="rect">
              <a:avLst/>
            </a:prstGeom>
            <a:solidFill>
              <a:srgbClr val="F8F9FB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34" name="Text 26"/>
            <p:cNvSpPr/>
            <p:nvPr/>
          </p:nvSpPr>
          <p:spPr>
            <a:xfrm>
              <a:off x="685800" y="3392424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Autonomy</a:t>
              </a:r>
              <a:endParaRPr lang="en-US" sz="1300" dirty="0"/>
            </a:p>
          </p:txBody>
        </p:sp>
        <p:pic>
          <p:nvPicPr>
            <p:cNvPr id="35" name="Image 6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3538728"/>
              <a:ext cx="228600" cy="228600"/>
            </a:xfrm>
            <a:prstGeom prst="rect">
              <a:avLst/>
            </a:prstGeom>
          </p:spPr>
        </p:pic>
        <p:sp>
          <p:nvSpPr>
            <p:cNvPr id="36" name="Text 27"/>
            <p:cNvSpPr/>
            <p:nvPr/>
          </p:nvSpPr>
          <p:spPr>
            <a:xfrm>
              <a:off x="3264408" y="3392424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Schema-constrained</a:t>
              </a:r>
              <a:endParaRPr lang="en-US" sz="1200" dirty="0"/>
            </a:p>
          </p:txBody>
        </p:sp>
        <p:pic>
          <p:nvPicPr>
            <p:cNvPr id="37" name="Image 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3538728"/>
              <a:ext cx="228600" cy="228600"/>
            </a:xfrm>
            <a:prstGeom prst="rect">
              <a:avLst/>
            </a:prstGeom>
          </p:spPr>
        </p:pic>
        <p:sp>
          <p:nvSpPr>
            <p:cNvPr id="38" name="Text 28"/>
            <p:cNvSpPr/>
            <p:nvPr/>
          </p:nvSpPr>
          <p:spPr>
            <a:xfrm>
              <a:off x="6053328" y="3392424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Free-form generation</a:t>
              </a:r>
              <a:endParaRPr lang="en-US" sz="1200" dirty="0"/>
            </a:p>
          </p:txBody>
        </p:sp>
        <p:sp>
          <p:nvSpPr>
            <p:cNvPr id="39" name="Text 29"/>
            <p:cNvSpPr/>
            <p:nvPr/>
          </p:nvSpPr>
          <p:spPr>
            <a:xfrm>
              <a:off x="8595360" y="3392424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Predictable in production</a:t>
              </a:r>
              <a:endParaRPr lang="en-US" sz="1200" dirty="0"/>
            </a:p>
          </p:txBody>
        </p:sp>
        <p:sp>
          <p:nvSpPr>
            <p:cNvPr id="40" name="Shape 30"/>
            <p:cNvSpPr/>
            <p:nvPr/>
          </p:nvSpPr>
          <p:spPr>
            <a:xfrm>
              <a:off x="548640" y="3867912"/>
              <a:ext cx="112014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41" name="Text 31"/>
            <p:cNvSpPr/>
            <p:nvPr/>
          </p:nvSpPr>
          <p:spPr>
            <a:xfrm>
              <a:off x="685800" y="3867912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Failure Mode</a:t>
              </a:r>
              <a:endParaRPr lang="en-US" sz="1300" dirty="0"/>
            </a:p>
          </p:txBody>
        </p:sp>
        <p:pic>
          <p:nvPicPr>
            <p:cNvPr id="42" name="Image 8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4014216"/>
              <a:ext cx="228600" cy="228600"/>
            </a:xfrm>
            <a:prstGeom prst="rect">
              <a:avLst/>
            </a:prstGeom>
          </p:spPr>
        </p:pic>
        <p:sp>
          <p:nvSpPr>
            <p:cNvPr id="43" name="Text 32"/>
            <p:cNvSpPr/>
            <p:nvPr/>
          </p:nvSpPr>
          <p:spPr>
            <a:xfrm>
              <a:off x="3264408" y="3867912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Always-on fallback</a:t>
              </a:r>
              <a:endParaRPr lang="en-US" sz="1200" dirty="0"/>
            </a:p>
          </p:txBody>
        </p:sp>
        <p:pic>
          <p:nvPicPr>
            <p:cNvPr id="44" name="Image 9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4014216"/>
              <a:ext cx="228600" cy="228600"/>
            </a:xfrm>
            <a:prstGeom prst="rect">
              <a:avLst/>
            </a:prstGeom>
          </p:spPr>
        </p:pic>
        <p:sp>
          <p:nvSpPr>
            <p:cNvPr id="45" name="Text 33"/>
            <p:cNvSpPr/>
            <p:nvPr/>
          </p:nvSpPr>
          <p:spPr>
            <a:xfrm>
              <a:off x="6053328" y="3867912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LLM-only retry loops</a:t>
              </a:r>
              <a:endParaRPr lang="en-US" sz="1200" dirty="0"/>
            </a:p>
          </p:txBody>
        </p:sp>
        <p:sp>
          <p:nvSpPr>
            <p:cNvPr id="46" name="Text 34"/>
            <p:cNvSpPr/>
            <p:nvPr/>
          </p:nvSpPr>
          <p:spPr>
            <a:xfrm>
              <a:off x="8595360" y="3867912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Reliability is not hope</a:t>
              </a:r>
              <a:endParaRPr lang="en-US" sz="1200" dirty="0"/>
            </a:p>
          </p:txBody>
        </p:sp>
        <p:sp>
          <p:nvSpPr>
            <p:cNvPr id="47" name="Shape 35"/>
            <p:cNvSpPr/>
            <p:nvPr/>
          </p:nvSpPr>
          <p:spPr>
            <a:xfrm>
              <a:off x="548640" y="4343400"/>
              <a:ext cx="11201400" cy="475488"/>
            </a:xfrm>
            <a:prstGeom prst="rect">
              <a:avLst/>
            </a:prstGeom>
            <a:solidFill>
              <a:srgbClr val="F8F9FB"/>
            </a:solidFill>
            <a:ln w="6350">
              <a:solidFill>
                <a:srgbClr val="E8ECF3"/>
              </a:solidFill>
              <a:prstDash val="solid"/>
            </a:ln>
          </p:spPr>
        </p:sp>
        <p:sp>
          <p:nvSpPr>
            <p:cNvPr id="48" name="Text 36"/>
            <p:cNvSpPr/>
            <p:nvPr/>
          </p:nvSpPr>
          <p:spPr>
            <a:xfrm>
              <a:off x="685800" y="4343400"/>
              <a:ext cx="20116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Exposure</a:t>
              </a:r>
              <a:endParaRPr lang="en-US" sz="1300" dirty="0"/>
            </a:p>
          </p:txBody>
        </p:sp>
        <p:pic>
          <p:nvPicPr>
            <p:cNvPr id="49" name="Image 1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4489704"/>
              <a:ext cx="228600" cy="228600"/>
            </a:xfrm>
            <a:prstGeom prst="rect">
              <a:avLst/>
            </a:prstGeom>
          </p:spPr>
        </p:pic>
        <p:sp>
          <p:nvSpPr>
            <p:cNvPr id="50" name="Text 37"/>
            <p:cNvSpPr/>
            <p:nvPr/>
          </p:nvSpPr>
          <p:spPr>
            <a:xfrm>
              <a:off x="3264408" y="4343400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15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Aggregates only</a:t>
              </a:r>
              <a:endParaRPr lang="en-US" sz="1200" dirty="0"/>
            </a:p>
          </p:txBody>
        </p:sp>
        <p:pic>
          <p:nvPicPr>
            <p:cNvPr id="51" name="Image 1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0720" y="4489704"/>
              <a:ext cx="228600" cy="228600"/>
            </a:xfrm>
            <a:prstGeom prst="rect">
              <a:avLst/>
            </a:prstGeom>
          </p:spPr>
        </p:pic>
        <p:sp>
          <p:nvSpPr>
            <p:cNvPr id="52" name="Text 38"/>
            <p:cNvSpPr/>
            <p:nvPr/>
          </p:nvSpPr>
          <p:spPr>
            <a:xfrm>
              <a:off x="6053328" y="4343400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rows to LLM</a:t>
              </a:r>
              <a:endParaRPr lang="en-US" sz="1200" dirty="0"/>
            </a:p>
          </p:txBody>
        </p:sp>
        <p:sp>
          <p:nvSpPr>
            <p:cNvPr id="53" name="Text 39"/>
            <p:cNvSpPr/>
            <p:nvPr/>
          </p:nvSpPr>
          <p:spPr>
            <a:xfrm>
              <a:off x="8595360" y="4343400"/>
              <a:ext cx="30175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4A58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Privacy by architecture</a:t>
              </a:r>
              <a:endParaRPr lang="en-US" sz="1200" dirty="0"/>
            </a:p>
          </p:txBody>
        </p:sp>
      </p:grpSp>
      <p:sp>
        <p:nvSpPr>
          <p:cNvPr id="61" name="Shape 45"/>
          <p:cNvSpPr/>
          <p:nvPr/>
        </p:nvSpPr>
        <p:spPr>
          <a:xfrm>
            <a:off x="548640" y="5522976"/>
            <a:ext cx="11064240" cy="548640"/>
          </a:xfrm>
          <a:prstGeom prst="rect">
            <a:avLst/>
          </a:prstGeom>
          <a:solidFill>
            <a:srgbClr val="E20074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62" name="Text 46"/>
          <p:cNvSpPr/>
          <p:nvPr/>
        </p:nvSpPr>
        <p:spPr>
          <a:xfrm>
            <a:off x="548640" y="55229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deployed where it earns its complexity.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65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5208" y="1195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auto-discovery to </a:t>
            </a:r>
            <a:r>
              <a:rPr lang="en-US" sz="36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 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1197" y="1895455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what matters, let users ask.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 analytics</a:t>
            </a:r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B51C72-1B46-68A9-A641-766CBA474F15}"/>
              </a:ext>
            </a:extLst>
          </p:cNvPr>
          <p:cNvGrpSpPr/>
          <p:nvPr/>
        </p:nvGrpSpPr>
        <p:grpSpPr>
          <a:xfrm>
            <a:off x="765208" y="2743200"/>
            <a:ext cx="11064240" cy="2194560"/>
            <a:chOff x="548640" y="3474720"/>
            <a:chExt cx="11064240" cy="2194560"/>
          </a:xfrm>
        </p:grpSpPr>
        <p:sp>
          <p:nvSpPr>
            <p:cNvPr id="6" name="Shape 4"/>
            <p:cNvSpPr/>
            <p:nvPr/>
          </p:nvSpPr>
          <p:spPr>
            <a:xfrm>
              <a:off x="548640" y="3474720"/>
              <a:ext cx="5440680" cy="2194560"/>
            </a:xfrm>
            <a:prstGeom prst="rect">
              <a:avLst/>
            </a:prstGeom>
            <a:solidFill>
              <a:srgbClr val="1A2B5C"/>
            </a:solidFill>
            <a:ln w="12700">
              <a:solidFill>
                <a:srgbClr val="2C4A8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48640" y="3474720"/>
              <a:ext cx="5440680" cy="73152"/>
            </a:xfrm>
            <a:prstGeom prst="rect">
              <a:avLst/>
            </a:prstGeom>
            <a:solidFill>
              <a:srgbClr val="8895B0"/>
            </a:solidFill>
            <a:ln w="12700">
              <a:solidFill>
                <a:srgbClr val="8895B0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868680" y="374904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kern="0" spc="3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TODAY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4114800"/>
              <a:ext cx="4572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Auto-discovery</a:t>
              </a:r>
              <a:endParaRPr lang="en-US" sz="2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4663440"/>
              <a:ext cx="4800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system inspects the data and decides what's worth showing.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68680" y="5166360"/>
              <a:ext cx="4800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8895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 friction. Works for any CSV.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172200" y="3474720"/>
              <a:ext cx="5440680" cy="2194560"/>
            </a:xfrm>
            <a:prstGeom prst="rect">
              <a:avLst/>
            </a:prstGeom>
            <a:solidFill>
              <a:srgbClr val="1A2B5C"/>
            </a:solidFill>
            <a:ln w="25400">
              <a:solidFill>
                <a:srgbClr val="E20074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172200" y="3474720"/>
              <a:ext cx="5440680" cy="73152"/>
            </a:xfrm>
            <a:prstGeom prst="rect">
              <a:avLst/>
            </a:prstGeom>
            <a:solidFill>
              <a:srgbClr val="E20074"/>
            </a:solidFill>
            <a:ln w="12700">
              <a:solidFill>
                <a:srgbClr val="E2007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492240" y="374904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kern="0" spc="300" dirty="0">
                  <a:solidFill>
                    <a:srgbClr val="FF4D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92240" y="4617720"/>
              <a:ext cx="4800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ask business questions in plain language.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92240" y="4892040"/>
              <a:ext cx="4800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8EC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Charts and insights tailored to their intent.</a:t>
              </a:r>
              <a:endParaRPr lang="en-US" sz="1400" dirty="0"/>
            </a:p>
          </p:txBody>
        </p:sp>
      </p:grpSp>
      <p:sp>
        <p:nvSpPr>
          <p:cNvPr id="23" name="Text 7">
            <a:extLst>
              <a:ext uri="{FF2B5EF4-FFF2-40B4-BE49-F238E27FC236}">
                <a16:creationId xmlns:a16="http://schemas.microsoft.com/office/drawing/2014/main" id="{AEA90844-82FA-7FFD-1D62-CF4988B836ED}"/>
              </a:ext>
            </a:extLst>
          </p:cNvPr>
          <p:cNvSpPr/>
          <p:nvPr/>
        </p:nvSpPr>
        <p:spPr>
          <a:xfrm>
            <a:off x="649224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a-I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</a:t>
            </a:r>
            <a:endParaRPr lang="en-US" sz="2400" dirty="0"/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7AB6FE4D-18ED-8D12-FB5D-53A89152F7D5}"/>
              </a:ext>
            </a:extLst>
          </p:cNvPr>
          <p:cNvSpPr/>
          <p:nvPr/>
        </p:nvSpPr>
        <p:spPr>
          <a:xfrm>
            <a:off x="761197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was designed for this; every future feature extends a single module.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0016AE-0445-12C4-FB2F-098408C2C48F}"/>
              </a:ext>
            </a:extLst>
          </p:cNvPr>
          <p:cNvSpPr/>
          <p:nvPr/>
        </p:nvSpPr>
        <p:spPr>
          <a:xfrm>
            <a:off x="761197" y="600303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Mahgol Naeh  ·  mahgol.naeh@stud.uni-hannover.de  ·  </a:t>
            </a:r>
            <a:r>
              <a:rPr lang="en-US" sz="1200" i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github.com/mahgolnaeh/csv-dashboard</a:t>
            </a:r>
            <a:endParaRPr lang="en-US" sz="22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B18E5EB-6EE4-D573-D7EC-7B50A9013DD9}"/>
              </a:ext>
            </a:extLst>
          </p:cNvPr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20074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C335BD-3660-48C6-B9D5-CECC26615375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713</Words>
  <Application>Microsoft Office PowerPoint</Application>
  <PresentationFormat>Widescreen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CSV-to-Dashboard MVP</dc:title>
  <dc:subject>PptxGenJS Presentation</dc:subject>
  <dc:creator>Mahgol Naeh</dc:creator>
  <cp:lastModifiedBy>Mahgol Naeh</cp:lastModifiedBy>
  <cp:revision>4</cp:revision>
  <dcterms:created xsi:type="dcterms:W3CDTF">2026-05-22T20:24:24Z</dcterms:created>
  <dcterms:modified xsi:type="dcterms:W3CDTF">2026-05-22T22:31:28Z</dcterms:modified>
</cp:coreProperties>
</file>